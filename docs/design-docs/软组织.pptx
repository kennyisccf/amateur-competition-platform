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42" autoAdjust="0"/>
  </p:normalViewPr>
  <p:slideViewPr>
    <p:cSldViewPr snapToGrid="0">
      <p:cViewPr varScale="1">
        <p:scale>
          <a:sx n="66" d="100"/>
          <a:sy n="66" d="100"/>
        </p:scale>
        <p:origin x="1301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大家好，今天我将向大家介绍我们的项目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——“</a:t>
            </a:r>
            <a:r>
              <a:rPr lang="zh-HK" altLang="en-US" sz="1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乐赛</a:t>
            </a:r>
            <a:r>
              <a:rPr lang="en-US" altLang="zh-HK" sz="1400" b="0" i="0" u="none" strike="noStrike" spc="100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</a:t>
            </a:r>
            <a:r>
              <a:rPr lang="zh-CN" altLang="en-US" sz="1400" b="0" i="0" u="none" strike="noStrike" spc="100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全民赛事组织服务平</a:t>
            </a:r>
            <a:r>
              <a:rPr lang="en-US" altLang="zh-HK" sz="1400" b="0" i="0" u="none" strike="noStrike" spc="100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台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”。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这是一个旨在为广大业余运动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，競技項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爱好者打造的一站式赛事管理与成长平台。我们发现，当前市场在专业赛事和娱乐约局之间存在巨大的服务断层，业余选手的比赛经历往往缺乏记录和荣誉感。我们的平台正是为了解决这一痛点而生，通过赛事创建、报名、积分、段位和终身档案于一体的全闭环设计，让每一份热爱都能被记录、被认可。接下来，我将详细阐述我们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一个成功的项目离不开一个高效协作的团队。在这里，我向大家介绍我们项目团队的成员及分工。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我们有负责整体把控的项目经理，负责产品设计的产品经理，负责技术架构的技术负责人，以及负责前后端开发、UI设计、测试和文档撰写的各位工程师。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每个角色各司其职，紧密配合，共同推动项目的顺利进行。正是这样一个专业且均衡的团队，保证了我们项目的高质量交付。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次汇报将分为五个部分。首先，我将介绍项目的背景与开发动机，分析当前市场的痛点。其次，阐述我们项目的核心定位与四大创新亮点。接着，会详细介绍我们针对三类核心用户设计的功能模块。然后，说明系统的性能需求与交付形式。最后，对项目进行总结并展望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首先来看我们为什么要做这个项目。我们发现，广大的业余运动爱好者正面临一个尴尬的局面。一方面，专业赛事门槛高不可攀；另一方面，普通的娱乐约局又缺乏正式感和记录。比如一个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乒</a:t>
            </a:r>
            <a:endParaRPr lang="en-US" altLang="zh-TW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TW" altLang="en-US" sz="1400" b="0" i="0" u="none" strike="noStrike" dirty="0">
                <a:solidFill>
                  <a:srgbClr val="000000"/>
                </a:solidFill>
              </a:rPr>
              <a:t>乓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球爱好者，他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要和陌生人約局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却无法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量化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自己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和別人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的水平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；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又如果公同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想组织一场小型比赛，又苦于没有合适的工具</a:t>
            </a:r>
            <a:r>
              <a:rPr lang="zh-TW" altLang="en-US" sz="1400" b="0" i="0" u="none" strike="noStrike" dirty="0">
                <a:solidFill>
                  <a:srgbClr val="000000"/>
                </a:solidFill>
              </a:rPr>
              <a:t>，專門找人又增加不少成本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这种在专业与娱乐之间的服务断层，正是我们项目要切入的市场空白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针对这些痛点，我们明确了要解决的三大核心问题。第一，是荣誉感的缺失。我们通过建立永久的个人运动档案，让每一次努力都留下痕迹。第二，是赛事品类的单一。我们打造一个多元化的赛事生态，满足用户不同的兴趣。第三，是公开赛事的合规性问题。我们通过严格的审核机制，确保每一场公开赛事的安全与公正。这三个问题的解决，构成了我们项目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接下来，我将介绍我们项目的核心定位与创新。我们的定位非常明确：打造一个一站式的赛事管理与成长平台。这不仅仅是一个报名工具，我们构建了一个从赛事创办到终身档案的完整闭环。用户在这里不仅能打比赛，更能看到自己的成长轨迹，从新手一步步走向高手。这个完整的成长体系，是我们区别于其他平台的核心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我们的核心创新主要体现在四个方面。首先是“双赛事模式”，我们同时支持规范的公开积分赛和灵活的私密好友赛，覆盖了从正式到娱乐的全部场景。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其次，也是我们的一大亮点，就是“运动专属积分段位体系”。我们引入了游戏化的成长机制，通过差异化的积分算法和段位晋级，让用户的每一次参与都有明确的反馈，极大地增强了用户粘性和荣誉感。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第三大创新是数据可视化。我们提供个人成长曲线，让用户直观地看到自己的进步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最后，我们加入了轻量的AI智能推荐功能。平台会根据用户，智能推荐合适的赛事和队友，这大大提升了平台的智能化水平和用户活跃度。这四大创新共同构成了我们项目的核心竞争力。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在功能设计上，我们始终围绕三类核心用户展开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首先是参赛选手，他们是平台的主体，核心需求是找到合适的比赛、组队参赛，并留下自己的运动记录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其次是赛事主办方，他们是内容的创造者，需要灵活、便捷的工具来举办比赛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最后是平台管理员，他们负责审核和维护整个平台生态的健康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接下来我将详细介绍为这三类用户设计的功能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对于选手端，我们提供了从找比赛、报名、组队到查看个人档案的全流程功能。特别是个人运动档案，它永久保存用户的所有数据，并以可视化的方式呈现，满足用户的成就感需求。对于主办方端，我们提供了灵活的双轨赛事创建模式，既可以创建正规的公开赛事，也可以方便地组织内部娱乐赛。同时，主办方还可以管理赛事流程，并申请新增赛事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管理员端的功能聚焦于平台的运营和治理。核心职责包括审核公开赛事，确保平台内容的合规性；审核新增项目，丰富平台的赛事品类；管控积分系统，保证公平公正；以及管理用户和队伍。此外，我们还预留了与外部权威机构的对接端口，为平台未来的发展和官方认证奠定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系统架构方面，我们对性能提出了明确要求。首先，系统响应必须迅速，日常操作要在1秒内完成。其次，要能承载数百至上千用户的并发访问。数据安全至关重要，所有用户记录都将被可靠存储和长期保存。同时，系统需具备高稳定性和可扩展性，为未来功能的迭代打下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我们的交付形式是Web端。这意味着用户无需下载任何App，只需通过浏览器就能访问平台的所有功能，极大地降低了用户的使用门槛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我们的系统架构主要包括五个部分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1.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前端界面系统：基于现代Web技术，确保界面直观且多端适配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2.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后端服务系统：处理核心业务逻辑，如赛事和积分管理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3.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数据库系统：安全存储所有关键业务数据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4.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部署环境：确保系统稳定运行在服务器上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5.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管理后台：为运营人员提供便捷的操作工具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整体架构设计旨在提供高效、稳定且易于访问的服务体验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最后，对我们的项目进行总结。我们的优势在于精准的市场定位、完整的业务闭环、突出的创新亮点，并且项目本身非常适合团队协作开发，具有很高的展示价值。当然，我们也面临功能模块多、开发节奏需要合理规划的挑战。展望未来，我们计划横向扩展赛事品类，纵向深化商业合作，并持续进行技术升级，致力于打造一个极致的业余运动生态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我的介绍到此结束，感谢各位的聆听。现在是问答环节，欢迎大家提问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4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4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2.svg"/><Relationship Id="rId4" Type="http://schemas.openxmlformats.org/officeDocument/2006/relationships/image" Target="../media/image28.jpe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30.svg"/><Relationship Id="rId3" Type="http://schemas.openxmlformats.org/officeDocument/2006/relationships/image" Target="../media/image4.jpeg"/><Relationship Id="rId7" Type="http://schemas.openxmlformats.org/officeDocument/2006/relationships/image" Target="../media/image36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5" Type="http://schemas.openxmlformats.org/officeDocument/2006/relationships/image" Target="../media/image42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10.svg"/><Relationship Id="rId4" Type="http://schemas.openxmlformats.org/officeDocument/2006/relationships/image" Target="../media/image44.jpe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.jpe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jpe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3" Type="http://schemas.openxmlformats.org/officeDocument/2006/relationships/image" Target="../media/image4.jpeg"/><Relationship Id="rId21" Type="http://schemas.openxmlformats.org/officeDocument/2006/relationships/image" Target="../media/image73.svg"/><Relationship Id="rId7" Type="http://schemas.openxmlformats.org/officeDocument/2006/relationships/image" Target="../media/image59.svg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57.svg"/><Relationship Id="rId15" Type="http://schemas.openxmlformats.org/officeDocument/2006/relationships/image" Target="../media/image67.svg"/><Relationship Id="rId10" Type="http://schemas.openxmlformats.org/officeDocument/2006/relationships/image" Target="../media/image62.png"/><Relationship Id="rId19" Type="http://schemas.openxmlformats.org/officeDocument/2006/relationships/image" Target="../media/image71.svg"/><Relationship Id="rId4" Type="http://schemas.openxmlformats.org/officeDocument/2006/relationships/image" Target="../media/image56.png"/><Relationship Id="rId9" Type="http://schemas.openxmlformats.org/officeDocument/2006/relationships/image" Target="../media/image61.svg"/><Relationship Id="rId1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svg"/><Relationship Id="rId3" Type="http://schemas.openxmlformats.org/officeDocument/2006/relationships/image" Target="../media/image4.jpeg"/><Relationship Id="rId7" Type="http://schemas.openxmlformats.org/officeDocument/2006/relationships/image" Target="../media/image77.sv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11" Type="http://schemas.openxmlformats.org/officeDocument/2006/relationships/image" Target="../media/image81.svg"/><Relationship Id="rId5" Type="http://schemas.openxmlformats.org/officeDocument/2006/relationships/image" Target="../media/image75.sv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7.svg"/><Relationship Id="rId3" Type="http://schemas.openxmlformats.org/officeDocument/2006/relationships/image" Target="../media/image4.jpeg"/><Relationship Id="rId7" Type="http://schemas.openxmlformats.org/officeDocument/2006/relationships/image" Target="../media/image81.sv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11" Type="http://schemas.openxmlformats.org/officeDocument/2006/relationships/image" Target="../media/image14.svg"/><Relationship Id="rId5" Type="http://schemas.openxmlformats.org/officeDocument/2006/relationships/image" Target="../media/image85.svg"/><Relationship Id="rId10" Type="http://schemas.openxmlformats.org/officeDocument/2006/relationships/image" Target="../media/image13.png"/><Relationship Id="rId4" Type="http://schemas.openxmlformats.org/officeDocument/2006/relationships/image" Target="../media/image84.png"/><Relationship Id="rId9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93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12" Type="http://schemas.openxmlformats.org/officeDocument/2006/relationships/image" Target="../media/image92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svg"/><Relationship Id="rId11" Type="http://schemas.openxmlformats.org/officeDocument/2006/relationships/image" Target="../media/image91.png"/><Relationship Id="rId5" Type="http://schemas.openxmlformats.org/officeDocument/2006/relationships/image" Target="../media/image89.png"/><Relationship Id="rId15" Type="http://schemas.openxmlformats.org/officeDocument/2006/relationships/image" Target="../media/image54.png"/><Relationship Id="rId10" Type="http://schemas.openxmlformats.org/officeDocument/2006/relationships/image" Target="../media/image14.svg"/><Relationship Id="rId4" Type="http://schemas.openxmlformats.org/officeDocument/2006/relationships/image" Target="../media/image88.jpeg"/><Relationship Id="rId9" Type="http://schemas.openxmlformats.org/officeDocument/2006/relationships/image" Target="../media/image13.png"/><Relationship Id="rId14" Type="http://schemas.openxmlformats.org/officeDocument/2006/relationships/image" Target="../media/image9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30.svg"/><Relationship Id="rId18" Type="http://schemas.openxmlformats.org/officeDocument/2006/relationships/image" Target="../media/image105.png"/><Relationship Id="rId3" Type="http://schemas.openxmlformats.org/officeDocument/2006/relationships/image" Target="../media/image4.jpeg"/><Relationship Id="rId7" Type="http://schemas.openxmlformats.org/officeDocument/2006/relationships/image" Target="../media/image98.svg"/><Relationship Id="rId12" Type="http://schemas.openxmlformats.org/officeDocument/2006/relationships/image" Target="../media/image29.png"/><Relationship Id="rId17" Type="http://schemas.openxmlformats.org/officeDocument/2006/relationships/image" Target="../media/image104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png"/><Relationship Id="rId11" Type="http://schemas.openxmlformats.org/officeDocument/2006/relationships/image" Target="../media/image81.svg"/><Relationship Id="rId5" Type="http://schemas.openxmlformats.org/officeDocument/2006/relationships/image" Target="../media/image96.svg"/><Relationship Id="rId15" Type="http://schemas.openxmlformats.org/officeDocument/2006/relationships/image" Target="../media/image102.svg"/><Relationship Id="rId10" Type="http://schemas.openxmlformats.org/officeDocument/2006/relationships/image" Target="../media/image80.png"/><Relationship Id="rId19" Type="http://schemas.openxmlformats.org/officeDocument/2006/relationships/image" Target="../media/image106.svg"/><Relationship Id="rId4" Type="http://schemas.openxmlformats.org/officeDocument/2006/relationships/image" Target="../media/image95.png"/><Relationship Id="rId9" Type="http://schemas.openxmlformats.org/officeDocument/2006/relationships/image" Target="../media/image100.svg"/><Relationship Id="rId14" Type="http://schemas.openxmlformats.org/officeDocument/2006/relationships/image" Target="../media/image10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9.svg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971" t="5000" r="4971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826">
              <a:alpha val="8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1524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HK" altLang="en-US" sz="42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乐赛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080000" y="3492500"/>
            <a:ext cx="2032000" cy="762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100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</a:t>
            </a:r>
            <a:r>
              <a:rPr lang="zh-CN" altLang="en-US" sz="2200" b="0" i="0" u="none" strike="noStrike" spc="100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全民赛事组织服务平</a:t>
            </a:r>
            <a:r>
              <a:rPr lang="en-US" sz="2200" b="0" i="0" u="none" strike="noStrike" spc="100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台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HK" altLang="en-US" sz="24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软组织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项目团队与分工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165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524000" y="1968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1800" y="2146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2794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项目经理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1115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b="0" i="0" u="none" strike="noStrike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張振豐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3429000" y="165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4" name="AutoShape 14"/>
          <p:cNvSpPr/>
          <p:nvPr/>
        </p:nvSpPr>
        <p:spPr>
          <a:xfrm>
            <a:off x="34290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318000" y="1968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5800" y="2146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556000" y="2794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556000" y="31115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b="0" i="0" u="none" strike="noStrike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李峻安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223000" y="165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2230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112000" y="1968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89800" y="21463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350000" y="2794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技术负责人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31115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b="0" i="0" u="none" strike="noStrike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陳俊皓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9017000" y="16510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017000" y="16510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906000" y="1968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3800" y="21463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144000" y="2794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前端开发工程师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44000" y="31115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张二思、張振豐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635000" y="38735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5000" y="38735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524000" y="4191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01800" y="4368800"/>
            <a:ext cx="406400" cy="4064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62000" y="5016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后端开发工程师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5334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dirty="0">
                <a:solidFill>
                  <a:srgbClr val="999999"/>
                </a:solidFill>
                <a:latin typeface="Noto Sans SC"/>
                <a:ea typeface="Noto Sans SC"/>
                <a:sym typeface="Noto Sans SC"/>
              </a:rPr>
              <a:t>路良钧、董祉含</a:t>
            </a:r>
            <a:endParaRPr lang="en-US" sz="1100" dirty="0"/>
          </a:p>
        </p:txBody>
      </p:sp>
      <p:sp>
        <p:nvSpPr>
          <p:cNvPr id="41" name="AutoShape 41"/>
          <p:cNvSpPr/>
          <p:nvPr/>
        </p:nvSpPr>
        <p:spPr>
          <a:xfrm>
            <a:off x="3429000" y="38735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3429000" y="38735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/>
        </p:nvSpPr>
        <p:spPr>
          <a:xfrm>
            <a:off x="4318000" y="4191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95800" y="4368800"/>
            <a:ext cx="406400" cy="4064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3556000" y="5016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测试工程师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3556000" y="5334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dirty="0">
                <a:solidFill>
                  <a:srgbClr val="999999"/>
                </a:solidFill>
                <a:latin typeface="Noto Sans SC"/>
                <a:ea typeface="Noto Sans SC"/>
                <a:sym typeface="Noto Sans SC"/>
              </a:rPr>
              <a:t>路良钧</a:t>
            </a:r>
            <a:endParaRPr lang="en-US" sz="1100" dirty="0"/>
          </a:p>
        </p:txBody>
      </p:sp>
      <p:sp>
        <p:nvSpPr>
          <p:cNvPr id="48" name="AutoShape 48"/>
          <p:cNvSpPr/>
          <p:nvPr/>
        </p:nvSpPr>
        <p:spPr>
          <a:xfrm>
            <a:off x="6223000" y="38735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49"/>
          <p:cNvSpPr/>
          <p:nvPr/>
        </p:nvSpPr>
        <p:spPr>
          <a:xfrm>
            <a:off x="6223000" y="38735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50"/>
          <p:cNvSpPr/>
          <p:nvPr/>
        </p:nvSpPr>
        <p:spPr>
          <a:xfrm>
            <a:off x="7112000" y="4191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89800" y="4368800"/>
            <a:ext cx="406400" cy="406400"/>
          </a:xfrm>
          <a:prstGeom prst="rect">
            <a:avLst/>
          </a:prstGeom>
        </p:spPr>
      </p:pic>
      <p:sp>
        <p:nvSpPr>
          <p:cNvPr id="52" name="AutoShape 52"/>
          <p:cNvSpPr/>
          <p:nvPr/>
        </p:nvSpPr>
        <p:spPr>
          <a:xfrm>
            <a:off x="6350000" y="5016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UI设计师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350000" y="5334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李峻安</a:t>
            </a:r>
            <a:endParaRPr lang="en-US" altLang="zh-HK" sz="1100" dirty="0"/>
          </a:p>
        </p:txBody>
      </p:sp>
      <p:sp>
        <p:nvSpPr>
          <p:cNvPr id="55" name="AutoShape 55"/>
          <p:cNvSpPr/>
          <p:nvPr/>
        </p:nvSpPr>
        <p:spPr>
          <a:xfrm>
            <a:off x="9017000" y="3873500"/>
            <a:ext cx="254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9017000" y="3873500"/>
            <a:ext cx="2540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AutoShape 57"/>
          <p:cNvSpPr/>
          <p:nvPr/>
        </p:nvSpPr>
        <p:spPr>
          <a:xfrm>
            <a:off x="9906000" y="4191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83800" y="4368800"/>
            <a:ext cx="406400" cy="406400"/>
          </a:xfrm>
          <a:prstGeom prst="rect">
            <a:avLst/>
          </a:prstGeom>
        </p:spPr>
      </p:pic>
      <p:sp>
        <p:nvSpPr>
          <p:cNvPr id="59" name="AutoShape 59"/>
          <p:cNvSpPr/>
          <p:nvPr/>
        </p:nvSpPr>
        <p:spPr>
          <a:xfrm>
            <a:off x="9144000" y="5016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文档工程师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144000" y="5334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TW" altLang="en-US" sz="1200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陳俊皓</a:t>
            </a:r>
            <a:endParaRPr lang="en-US" altLang="zh-HK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| 项目汇报目录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76200" cy="8636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498600"/>
            <a:ext cx="76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14986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项目背景与开发动机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市场痛点与核心问题深度剖析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24130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2413000"/>
            <a:ext cx="76200" cy="8636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2514600"/>
            <a:ext cx="76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25146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项目核心定位与创新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平台战略定位与四大核心创新点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3429000"/>
            <a:ext cx="76200" cy="8636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3530600"/>
            <a:ext cx="76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35306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用户角色与功能设计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三类核心用户画像与精细化功能模块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76200" cy="8636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4546600"/>
            <a:ext cx="76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905000" y="45466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系统架构与交付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高性能技术架构与Web端交付形式</a:t>
            </a:r>
            <a:endParaRPr lang="en-US" sz="1400" b="0" i="0" u="none" strike="noStrike" dirty="0">
              <a:solidFill>
                <a:srgbClr val="9B9B9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76200" cy="8636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562600"/>
            <a:ext cx="76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05000" y="55626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B9B9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项目核心优势复盘与未来发展规划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874000" y="1397000"/>
            <a:ext cx="3556000" cy="4927600"/>
          </a:xfrm>
          <a:prstGeom prst="roundRect">
            <a:avLst>
              <a:gd name="adj" fmla="val 7142"/>
            </a:avLst>
          </a:prstGeom>
          <a:gradFill rotWithShape="1">
            <a:gsLst>
              <a:gs pos="0">
                <a:srgbClr val="FF6B00">
                  <a:alpha val="8000"/>
                </a:srgbClr>
              </a:gs>
              <a:gs pos="100000">
                <a:srgbClr val="FF6B00">
                  <a:alpha val="2000"/>
                </a:srgbClr>
              </a:gs>
            </a:gsLst>
            <a:lin ang="3600000"/>
          </a:gra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0" y="2032000"/>
            <a:ext cx="1778000" cy="177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128000" y="4064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数字化转型全景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4699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从痛点分析到架构落地</a:t>
            </a:r>
            <a:b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全方位解析项目开发逻辑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09000" y="5778500"/>
            <a:ext cx="2286000" cy="50800"/>
          </a:xfrm>
          <a:prstGeom prst="roundRect">
            <a:avLst>
              <a:gd name="adj" fmla="val 12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项目背景与开发动机：业余赛事的“服务断层”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8421" r="18421"/>
          <a:stretch>
            <a:fillRect/>
          </a:stretch>
        </p:blipFill>
        <p:spPr>
          <a:xfrm>
            <a:off x="762000" y="1397000"/>
            <a:ext cx="4572000" cy="4064000"/>
          </a:xfrm>
          <a:prstGeom prst="roundRect">
            <a:avLst>
              <a:gd name="adj" fmla="val 3750"/>
            </a:avLst>
          </a:prstGeom>
          <a:noFill/>
          <a:ln w="25400" cap="flat" cmpd="sng">
            <a:solidFill>
              <a:srgbClr val="FF6B00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5588000"/>
            <a:ext cx="4572000" cy="508000"/>
          </a:xfrm>
          <a:prstGeom prst="roundRect">
            <a:avLst>
              <a:gd name="adj" fmla="val 2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现状困境：专业门槛与娱乐体验的割裂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13970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中国拥有庞大的业余爱好人群，但市场缺乏兼顾“正规性”与“灵活性”的平台，赛事体验断层明显。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2286000"/>
            <a:ext cx="571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969000" y="2603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21400" y="27559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2413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球</a:t>
            </a:r>
            <a:r>
              <a:rPr lang="zh-HK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类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爱好者：热爱无法沉淀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 dirty="0" err="1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痛点：正规比赛门槛高，野球局无记录。无法衡量真实水平，多年热爱无量化成绩</a:t>
            </a:r>
            <a:r>
              <a:rPr lang="en-US" sz="1300" b="0" i="0" u="none" strike="noStrike" dirty="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715000" y="3873500"/>
            <a:ext cx="571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969000" y="4191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1400" y="4343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4000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小型组织者：赛事管理繁琐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痛点：缺乏报名、赛程记录和统计工具。组织过程低效，无法形成有组织的高质量活动。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715000" y="5588000"/>
            <a:ext cx="5715000" cy="508000"/>
          </a:xfrm>
          <a:prstGeom prst="roundRect">
            <a:avLst>
              <a:gd name="adj" fmla="val 50000"/>
            </a:avLst>
          </a:prstGeom>
          <a:solidFill>
            <a:srgbClr val="FF6B00">
              <a:alpha val="15000"/>
            </a:srgbClr>
          </a:solidFill>
          <a:ln w="12700" cap="flat" cmpd="sng">
            <a:solidFill>
              <a:srgbClr val="FF6B0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550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结论：填补“专业赛事”与“娱乐约局”间的服务真空地带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项目背景与开发动机：解决三大核心痛点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69">
            <a:off x="762040" y="1136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2412" r="12646"/>
          <a:stretch>
            <a:fillRect/>
          </a:stretch>
        </p:blipFill>
        <p:spPr>
          <a:xfrm>
            <a:off x="762000" y="1651000"/>
            <a:ext cx="4064000" cy="3048000"/>
          </a:xfrm>
          <a:prstGeom prst="roundRect">
            <a:avLst>
              <a:gd name="adj" fmla="val 5000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4953000"/>
            <a:ext cx="4064000" cy="1016000"/>
          </a:xfrm>
          <a:prstGeom prst="roundRect">
            <a:avLst>
              <a:gd name="adj" fmla="val 15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FF6B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 填补服务断层，打造公平、多元、有温度的赛事平台 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07000" y="1651000"/>
            <a:ext cx="622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207000" y="1651000"/>
            <a:ext cx="76200" cy="14605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524500" y="1968500"/>
            <a:ext cx="812800" cy="812800"/>
          </a:xfrm>
          <a:prstGeom prst="ellipse">
            <a:avLst/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6900" y="21209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540500" y="1778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痛点一：业余赛事荣誉感缺失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现状：无档案、无积分，“打完即散”。</a:t>
            </a:r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对策：建立永久个人公开档案，打造电子履历。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207000" y="3302000"/>
            <a:ext cx="622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07000" y="330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524500" y="3619500"/>
            <a:ext cx="812800" cy="812800"/>
          </a:xfrm>
          <a:prstGeom prst="ellipse">
            <a:avLst/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76900" y="37719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540500" y="3429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痛点二：赛事品类单一断层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现状：平台局限于单一运动，需求覆盖不足。</a:t>
            </a:r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对策：拓展电竞、棋牌等品类，构建多元生态。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207000" y="4953000"/>
            <a:ext cx="622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207000" y="495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524500" y="5270500"/>
            <a:ext cx="812800" cy="812800"/>
          </a:xfrm>
          <a:prstGeom prst="ellipse">
            <a:avLst/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76900" y="54229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540500" y="5080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痛点三：公开赛事缺乏监管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现状：存在安全隐患，规则执行难，权益无保障。</a:t>
            </a:r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对策：建立严格的赛事准入与审核机制。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项目核心定位与创新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定位：一站式赛事管理与成长平台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1727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我们致力于搭建一个从赛事创办到终身运动档案的全闭环生态。用户在这里不仅能高效完成赛事报名与管理，更能通过积分与段位机制，清晰地看到自己从新手蜕变为高手的每一步足迹。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892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6B00">
              <a:alpha val="8000"/>
            </a:srgbClr>
          </a:solidFill>
          <a:ln w="12700" cap="flat" cmpd="sng">
            <a:solidFill>
              <a:srgbClr val="FF6B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416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00200" y="25908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核心差异：不仅是赛事工具，更构建了覆盖用户全生命周期的个人运动成长体系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1930400" cy="2286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400" y="3873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" y="4635500"/>
            <a:ext cx="193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赛事创办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5080000"/>
            <a:ext cx="1676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便捷发起赛事</a:t>
            </a:r>
            <a:b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自定义赛程规则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44800" y="3556000"/>
            <a:ext cx="1930400" cy="2286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05200" y="3873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844800" y="4635500"/>
            <a:ext cx="193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报名参赛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71800" y="5080000"/>
            <a:ext cx="1676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一键快速报名</a:t>
            </a:r>
            <a:b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即时获取参赛信息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27600" y="3556000"/>
            <a:ext cx="1930400" cy="2286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88000" y="3873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927600" y="4635500"/>
            <a:ext cx="193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积分计算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54600" y="5080000"/>
            <a:ext cx="1676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自动统计成绩</a:t>
            </a:r>
            <a:b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实时更新积分数据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010400" y="3556000"/>
            <a:ext cx="1930400" cy="2286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0800" y="3873500"/>
            <a:ext cx="609600" cy="609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10400" y="4635500"/>
            <a:ext cx="193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段位晋级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37400" y="5080000"/>
            <a:ext cx="1676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量化运动水平</a:t>
            </a:r>
            <a:b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解锁荣誉与成就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93200" y="3556000"/>
            <a:ext cx="1930400" cy="228600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53600" y="3873500"/>
            <a:ext cx="609600" cy="609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093200" y="4635500"/>
            <a:ext cx="193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终身运动档案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20200" y="5080000"/>
            <a:ext cx="1676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沉淀运动生涯</a:t>
            </a:r>
            <a:b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记录每一次进步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项目核心定位与创新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打造多元化赛事体验与游戏化成长闭环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12412" b="12646"/>
          <a:stretch>
            <a:fillRect/>
          </a:stretch>
        </p:blipFill>
        <p:spPr>
          <a:xfrm>
            <a:off x="762000" y="1778000"/>
            <a:ext cx="3048000" cy="4064000"/>
          </a:xfrm>
          <a:prstGeom prst="roundRect">
            <a:avLst>
              <a:gd name="adj" fmla="val 6250"/>
            </a:avLst>
          </a:prstGeom>
          <a:noFill/>
          <a:ln w="38100" cap="flat" cmpd="sng">
            <a:solidFill>
              <a:srgbClr val="FF6B00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F6B00">
                <a:alpha val="2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5969000"/>
            <a:ext cx="3048000" cy="508000"/>
          </a:xfrm>
          <a:prstGeom prst="roundRect">
            <a:avLst>
              <a:gd name="adj" fmla="val 25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全场景赛事 · 游戏化激励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1778000"/>
            <a:ext cx="72390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2095500"/>
            <a:ext cx="812800" cy="8128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7400" y="22479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1968500"/>
            <a:ext cx="571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创新一：双赛事模式全覆盖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公开校园/社区赛：官方认证，成绩计入积分体系，正规专业。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• 私密好友赛：自定义规则与人数，轻量化约球，无需审核。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1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价值：打破场景壁垒，满足从竞技到社交的全维度需求。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191000" y="3937000"/>
            <a:ext cx="72390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45000" y="4254500"/>
            <a:ext cx="812800" cy="8128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7400" y="44069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61000" y="4127500"/>
            <a:ext cx="5715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创新二：运动专属积分段位体系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差异化积分：胜利</a:t>
            </a:r>
            <a:r>
              <a:rPr lang="en-US" sz="14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参与</a:t>
            </a:r>
            <a:r>
              <a:rPr lang="en-US" sz="14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完赛分层奖励，算法公平</a:t>
            </a:r>
            <a:r>
              <a:rPr lang="en-US" sz="14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成长与档案：段位晋级反馈及时，永久保存运动履历</a:t>
            </a:r>
            <a:r>
              <a:rPr lang="en-US" sz="1400" b="0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1" u="none" strike="noStrike" dirty="0" err="1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价值：游戏化机制引入，显著提升用户参与感与长期粘性</a:t>
            </a:r>
            <a:r>
              <a:rPr lang="en-US" sz="1300" b="0" i="1" u="none" strike="noStrike" dirty="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项目核心定位与创新 — 数据与智能驱动体验升级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1038" t="3846" r="11038" b="3846"/>
          <a:stretch>
            <a:fillRect/>
          </a:stretch>
        </p:blipFill>
        <p:spPr>
          <a:xfrm>
            <a:off x="762000" y="1524000"/>
            <a:ext cx="4572000" cy="3048000"/>
          </a:xfrm>
          <a:prstGeom prst="roundRect">
            <a:avLst>
              <a:gd name="adj" fmla="val 500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826000"/>
            <a:ext cx="4572000" cy="889000"/>
          </a:xfrm>
          <a:prstGeom prst="roundRect">
            <a:avLst>
              <a:gd name="adj" fmla="val 14285"/>
            </a:avLst>
          </a:prstGeom>
          <a:solidFill>
            <a:srgbClr val="FF6B00">
              <a:alpha val="8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54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4953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核心价值：直观洞察与智能匹配，打造极致运动社交体验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715000" y="1524000"/>
            <a:ext cx="5715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69000" y="1841500"/>
            <a:ext cx="812800" cy="8128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1400" y="19939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7145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Aft>
                <a:spcPts val="1000"/>
              </a:spcAft>
              <a:defRPr/>
            </a:pPr>
            <a:r>
              <a:rPr lang="en-US" sz="19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创新点三：数据可视化亮点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个人成长曲线：积分与段位变化一目了然</a:t>
            </a:r>
            <a:endParaRPr lang="en-US" sz="14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endParaRPr lang="en-US" sz="14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985000" y="3048000"/>
            <a:ext cx="4191000" cy="330200"/>
          </a:xfrm>
          <a:prstGeom prst="roundRect">
            <a:avLst>
              <a:gd name="adj" fmla="val 46153"/>
            </a:avLst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价值：提供直观数据洞察，提升平台专业度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3810000"/>
            <a:ext cx="5715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969000" y="4127500"/>
            <a:ext cx="812800" cy="8128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21400" y="42799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000500"/>
            <a:ext cx="419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Aft>
                <a:spcPts val="1000"/>
              </a:spcAft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创新点四：轻量AI智能推荐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精准画像推荐：基于运动偏好/战绩/位置</a:t>
            </a: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智能匹配：适配赛事与水平相当的队友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985000" y="5207000"/>
            <a:ext cx="4191000" cy="330200"/>
          </a:xfrm>
          <a:prstGeom prst="roundRect">
            <a:avLst>
              <a:gd name="adj" fmla="val 46153"/>
            </a:avLst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价值：技术轻量高效，显著提升用户活跃度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800" b="1" i="0" u="none" strike="noStrike" dirty="0" err="1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用户角色与功能设计：三类核心用户</a:t>
            </a:r>
            <a:endParaRPr lang="en-US" sz="11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31078" b="30866"/>
          <a:stretch>
            <a:fillRect/>
          </a:stretch>
        </p:blipFill>
        <p:spPr>
          <a:xfrm>
            <a:off x="762000" y="1270000"/>
            <a:ext cx="10668000" cy="22860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FF6B00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FF6B00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3937000"/>
            <a:ext cx="3378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879600" y="4254500"/>
            <a:ext cx="1143000" cy="1143000"/>
          </a:xfrm>
          <a:prstGeom prst="ellipse">
            <a:avLst/>
          </a:prstGeom>
          <a:solidFill>
            <a:srgbClr val="FFF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3600" y="45085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" y="5461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参赛选手 · 核心用户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3937000"/>
            <a:ext cx="3378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3937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511800" y="4254500"/>
            <a:ext cx="1143000" cy="1143000"/>
          </a:xfrm>
          <a:prstGeom prst="ellipse">
            <a:avLst/>
          </a:prstGeom>
          <a:solidFill>
            <a:srgbClr val="FFF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5800" y="4508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21200" y="5461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赛事主办方 · 内容创造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3937000"/>
            <a:ext cx="33782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3937000"/>
            <a:ext cx="33782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144000" y="4254500"/>
            <a:ext cx="1143000" cy="1143000"/>
          </a:xfrm>
          <a:prstGeom prst="ellipse">
            <a:avLst/>
          </a:prstGeom>
          <a:solidFill>
            <a:srgbClr val="FFF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4508500"/>
            <a:ext cx="6350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153400" y="5461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平台管理员 · 生态治理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用户角色与功能设计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5207000" cy="812800"/>
          </a:xfrm>
          <a:prstGeom prst="roundRect">
            <a:avLst>
              <a:gd name="adj" fmla="val 15625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15494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549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选手端 · 核心体验闭环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413000"/>
            <a:ext cx="4699000" cy="863600"/>
          </a:xfrm>
          <a:prstGeom prst="roundRect">
            <a:avLst>
              <a:gd name="adj" fmla="val 7352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25908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41500" y="24638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赛事智能筛选与推荐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多维度精准筛选，AI 个性化推荐心仪赛事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3378200"/>
            <a:ext cx="4699000" cy="863600"/>
          </a:xfrm>
          <a:prstGeom prst="roundRect">
            <a:avLst>
              <a:gd name="adj" fmla="val 7352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3556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3429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一键报名与赛程追踪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快速完成报名，实时掌握赛程、对手与比分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4343400"/>
            <a:ext cx="4699000" cy="863600"/>
          </a:xfrm>
          <a:prstGeom prst="roundRect">
            <a:avLst>
              <a:gd name="adj" fmla="val 7352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6500" y="45212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841500" y="43942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社交互动与组队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轻松添加好友，便捷创建或加入战队组队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016000" y="5308600"/>
            <a:ext cx="4699000" cy="762000"/>
          </a:xfrm>
          <a:prstGeom prst="roundRect">
            <a:avLst>
              <a:gd name="adj" fmla="val 8333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6500" y="54356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841500" y="5359400"/>
            <a:ext cx="368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个人运动档案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永久记录参赛数据，可视化呈现积分排名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1397000"/>
            <a:ext cx="5207000" cy="812800"/>
          </a:xfrm>
          <a:prstGeom prst="roundRect">
            <a:avLst>
              <a:gd name="adj" fmla="val 15625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15494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75500" y="1549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主办方端 · 高效赛事运营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2413000"/>
            <a:ext cx="4699000" cy="1079500"/>
          </a:xfrm>
          <a:prstGeom prst="roundRect">
            <a:avLst>
              <a:gd name="adj" fmla="val 5882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67500" y="2667000"/>
            <a:ext cx="558800" cy="558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25146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双轨赛事灵活创建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支持需审核的“公开计分赛”或无需审核的“私人自定义赛”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619500"/>
            <a:ext cx="4699000" cy="1079500"/>
          </a:xfrm>
          <a:prstGeom prst="roundRect">
            <a:avLst>
              <a:gd name="adj" fmla="val 5882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67500" y="3873500"/>
            <a:ext cx="558800" cy="558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66000" y="37211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全流程赛事项目管理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一站式管理报名选手，发布通知，更新赛程及实时比分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477000" y="4826000"/>
            <a:ext cx="4699000" cy="1079500"/>
          </a:xfrm>
          <a:prstGeom prst="roundRect">
            <a:avLst>
              <a:gd name="adj" fmla="val 5882"/>
            </a:avLst>
          </a:prstGeom>
          <a:solidFill>
            <a:srgbClr val="FF6B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7500" y="5080000"/>
            <a:ext cx="558800" cy="558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366000" y="49276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新增赛事项目申报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便捷申请平台上线新的赛事项目，丰富平台赛事库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5263" r="52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用户角色与功能设计 - 管理员端核心功能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3782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032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190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公开赛事审核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79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审核所有公开赛事申请，确保赛事信息合规、资料完整准确。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1651000"/>
            <a:ext cx="33782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48200" y="1905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5200" y="203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37200" y="190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新增项目与投票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48200" y="279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审核用户新增项目申请，决定直接上线或发起平台投票表决。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1651000"/>
            <a:ext cx="34036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80400" y="1905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7400" y="2032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169400" y="190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积分与档案管控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80400" y="2794000"/>
            <a:ext cx="2895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监督积分体系公平运行，处理异常积分争议，维护用户档案数据。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3937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79500" y="4254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1900" y="44069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032000" y="425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用户与队伍管理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032000" y="4699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管理平台用户账号状态，处理违规行为，维护队伍信息与权限变更。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3937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40500" y="42545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44069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493000" y="425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外部机构对接能力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493000" y="4699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预留体育局及权威组织对接端口，为赛事官方认证与合规联动奠定基础。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40000"/>
            </a:avLst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平台治理核心：安全合规 · 公平高效 · 开放互联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033" t="3448" r="3033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系统架构与交付：性能需求核心指标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006600" cy="3556000"/>
          </a:xfrm>
          <a:prstGeom prst="roundRect">
            <a:avLst>
              <a:gd name="adj" fmla="val 63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20066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57300" y="1905000"/>
            <a:ext cx="1016000" cy="1016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0500" y="21082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3048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极速响应体验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556000"/>
            <a:ext cx="1752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日常操作（浏览、报名等）页面响应时间严格控制在</a:t>
            </a:r>
            <a:r>
              <a:rPr lang="en-US" sz="13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1秒以内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，确保操作流畅无卡顿。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21000" y="1524000"/>
            <a:ext cx="2006600" cy="3556000"/>
          </a:xfrm>
          <a:prstGeom prst="roundRect">
            <a:avLst>
              <a:gd name="adj" fmla="val 63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921000" y="1524000"/>
            <a:ext cx="20066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416300" y="1905000"/>
            <a:ext cx="1016000" cy="1016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9500" y="21082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048000" y="3048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高并发承载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48000" y="3556000"/>
            <a:ext cx="1752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稳定支持</a:t>
            </a:r>
            <a:r>
              <a:rPr lang="en-US" sz="13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数千用户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同时在线操作，从容应对赛事报名等业务高峰时段的流量冲击。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0" y="1524000"/>
            <a:ext cx="2006600" cy="3556000"/>
          </a:xfrm>
          <a:prstGeom prst="roundRect">
            <a:avLst>
              <a:gd name="adj" fmla="val 63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080000" y="1524000"/>
            <a:ext cx="20066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575300" y="1905000"/>
            <a:ext cx="1016000" cy="1016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78500" y="21082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3048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数据安全可靠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07000" y="3556000"/>
            <a:ext cx="1752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用户数据、积分档案等核心资产</a:t>
            </a:r>
            <a:r>
              <a:rPr lang="en-US" sz="13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长期可靠存储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，具备完善的数据备份与恢复机制，杜绝数据丢失风险。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39000" y="1524000"/>
            <a:ext cx="2006600" cy="3556000"/>
          </a:xfrm>
          <a:prstGeom prst="roundRect">
            <a:avLst>
              <a:gd name="adj" fmla="val 63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239000" y="1524000"/>
            <a:ext cx="20066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734300" y="1905000"/>
            <a:ext cx="1016000" cy="1016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7500" y="21082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3048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高可用架构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3556000"/>
            <a:ext cx="1752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关键业务功能（如计分、报名）无单点故障，确保系统全年稳定运行，服务不中断。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398000" y="1524000"/>
            <a:ext cx="2006600" cy="3556000"/>
          </a:xfrm>
          <a:prstGeom prst="roundRect">
            <a:avLst>
              <a:gd name="adj" fmla="val 63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9398000" y="1524000"/>
            <a:ext cx="20066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893300" y="1905000"/>
            <a:ext cx="1016000" cy="1016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96500" y="2108200"/>
            <a:ext cx="609600" cy="609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525000" y="3048000"/>
            <a:ext cx="1752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灵活可扩展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525000" y="3556000"/>
            <a:ext cx="1752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采用模块化设计，便于未来快速接入新赛事类型或第三方接口，适应业务的快速迭代发展。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6B00">
              <a:alpha val="8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核心目标：打造“稳定、流畅、可扩展”的现代化赛事管理系统，为业务增长保驾护航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系统架构与交付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Web端交付：零门槛访问的高效架构方案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5399" r="5399"/>
          <a:stretch>
            <a:fillRect/>
          </a:stretch>
        </p:blipFill>
        <p:spPr>
          <a:xfrm>
            <a:off x="762000" y="1778000"/>
            <a:ext cx="4826000" cy="3048000"/>
          </a:xfrm>
          <a:prstGeom prst="roundRect">
            <a:avLst>
              <a:gd name="adj" fmla="val 625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50165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F6B00">
              <a:alpha val="8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5143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全终端适配体验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PC/平板/手机多端响应式布局，随时随地访问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969000" y="1778000"/>
            <a:ext cx="5461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19304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1854200"/>
            <a:ext cx="438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前端界面系统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现代Web技术开发，直观易用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2717800"/>
            <a:ext cx="5461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3000" y="28702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2794000"/>
            <a:ext cx="438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后端服务系统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赛事管理、积分计算等核心逻辑处理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969000" y="3657600"/>
            <a:ext cx="5461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3000" y="3810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3733800"/>
            <a:ext cx="438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数据库系统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安全存储用户、赛事及积分档案数据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69000" y="4597400"/>
            <a:ext cx="5461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23000" y="47498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673600"/>
            <a:ext cx="438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部署与运行环境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服务器稳定部署，域名直连访问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969000" y="5537200"/>
            <a:ext cx="5461000" cy="812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23000" y="56896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5613400"/>
            <a:ext cx="4381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基础管理后台</a:t>
            </a:r>
            <a:r>
              <a:rPr lang="en-US" sz="13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| 专属运营界面，高效处理业务操作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05 项目总结与展望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524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1905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核心优势总结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2476500"/>
            <a:ext cx="4445000" cy="635000"/>
          </a:xfrm>
          <a:prstGeom prst="roundRect">
            <a:avLst>
              <a:gd name="adj" fmla="val 10000"/>
            </a:avLst>
          </a:prstGeom>
          <a:solidFill>
            <a:srgbClr val="FF6B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" y="2603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41500" y="25146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市场定位精准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切入业余赛事蓝海，直击用户真实痛点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143000" y="3200400"/>
            <a:ext cx="4445000" cy="635000"/>
          </a:xfrm>
          <a:prstGeom prst="roundRect">
            <a:avLst>
              <a:gd name="adj" fmla="val 10000"/>
            </a:avLst>
          </a:prstGeom>
          <a:solidFill>
            <a:srgbClr val="FF6B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3500" y="33274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32385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业务模块完整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覆盖从创建到归档的赛事全生命周期闭环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143000" y="3924300"/>
            <a:ext cx="4445000" cy="635000"/>
          </a:xfrm>
          <a:prstGeom prst="roundRect">
            <a:avLst>
              <a:gd name="adj" fmla="val 10000"/>
            </a:avLst>
          </a:prstGeom>
          <a:solidFill>
            <a:srgbClr val="FF6B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3500" y="40513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841500" y="39624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创新亮点突出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双赛事模式+积分段位体系+数据可视化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43000" y="4648200"/>
            <a:ext cx="4445000" cy="635000"/>
          </a:xfrm>
          <a:prstGeom prst="roundRect">
            <a:avLst>
              <a:gd name="adj" fmla="val 10000"/>
            </a:avLst>
          </a:prstGeom>
          <a:solidFill>
            <a:srgbClr val="FF6B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33500" y="4775200"/>
            <a:ext cx="381000" cy="381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841500" y="46863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团队协作均衡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模块分工明确，充分体现工程实践能力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143000" y="5372100"/>
            <a:ext cx="4445000" cy="635000"/>
          </a:xfrm>
          <a:prstGeom prst="roundRect">
            <a:avLst>
              <a:gd name="adj" fmla="val 10000"/>
            </a:avLst>
          </a:prstGeom>
          <a:solidFill>
            <a:srgbClr val="FF6B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33500" y="54991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41500" y="54102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高展示价值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丰富的可视化与流程，答辩极具说服力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23000" y="1524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1905000"/>
            <a:ext cx="4699000" cy="1143000"/>
          </a:xfrm>
          <a:prstGeom prst="roundRect">
            <a:avLst>
              <a:gd name="adj" fmla="val 5555"/>
            </a:avLst>
          </a:prstGeom>
          <a:solidFill>
            <a:srgbClr val="FFF5F0">
              <a:alpha val="100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1000" y="22225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29500" y="2032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当前挑战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功能模块较多，需合理规划开发节奏，确保项目按时高质量交付。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6477000" y="330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未来发展方向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6477000" y="3941180"/>
            <a:ext cx="4699000" cy="698500"/>
          </a:xfrm>
          <a:prstGeom prst="roundRect">
            <a:avLst>
              <a:gd name="adj" fmla="val 9090"/>
            </a:avLst>
          </a:prstGeom>
          <a:solidFill>
            <a:srgbClr val="F2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31000" y="409358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302500" y="400468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横向扩展品类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引入更多运动及非运动赛事，打破单一局限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477000" y="5149850"/>
            <a:ext cx="4699000" cy="698500"/>
          </a:xfrm>
          <a:prstGeom prst="roundRect">
            <a:avLst>
              <a:gd name="adj" fmla="val 9090"/>
            </a:avLst>
          </a:prstGeom>
          <a:solidFill>
            <a:srgbClr val="F2F3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31000" y="530225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302500" y="521335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纵向商业深化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联动线下场馆与品牌，探索商业变现新模式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285" t="4237" r="4285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15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2984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 spc="4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419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欢迎各位提问与交流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5461000" y="5461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1064</Words>
  <Application>Microsoft Office PowerPoint</Application>
  <PresentationFormat>寬螢幕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Noto Sans SC</vt:lpstr>
      <vt:lpstr>Arial</vt:lpstr>
      <vt:lpstr>Office 主题​​</vt:lpstr>
      <vt:lpstr>默认主题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kenny cheong</cp:lastModifiedBy>
  <cp:revision>2</cp:revision>
  <dcterms:modified xsi:type="dcterms:W3CDTF">2026-04-01T08:47:39Z</dcterms:modified>
</cp:coreProperties>
</file>